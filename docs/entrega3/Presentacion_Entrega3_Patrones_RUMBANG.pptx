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sldIdLst>
    <p:sldId id="256" r:id="rId2"/>
    <p:sldId id="307" r:id="rId3"/>
    <p:sldId id="309" r:id="rId10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0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7A5F5-3977-F58C-015A-044066FFE767}" v="10" dt="2026-10-26T16:49:40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RUMBANG: juego, objetivo de rendimiento en móvil y por qué la arquitectura importa. Las cifras salen del código: 11 armas en WeaponData, 6 tipos en EnemyData.EnemyType.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Requerimientos funcionales y no funcionales resumidos. El no funcional clave es el rendimiento en móvil, que condiciona varias decisiones (flyweight, pool).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del C4 del repositorio (c4_architecture.puml / c4_explicacion.txt). Si el docente pide el diagrama, mostrar el .puml exportado.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creacionales y cuatro estructurales. La guía exige todos los creacionales y mínimo tres estructurales: Decorator, Flyweight y Adapter son los nuevos; Facade ya existía.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el Creator define create_enemy() y delega en el factory method _create_product(). CÓMO: EnemyCreator, BossCreator, NecromancerBossCreator; main.gd y wave_manager.gd usan NecromancerBossCreator.new().create_enemy(). POR QUÉ: EnemyFactory era un match sobre strings que violaba OCP. DESVENTAJA: una clase por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cómo desaparecen el match y los strings: el cliente ya no conoce rutas de escena.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familia de objetos coherentes sin nombrar clases concretas. Cliente: GameStartFacade. Patrón que ya existía; se auditó y se documentó su limitación honestamente.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separar la construcción del objeto de su representación. Roles: Director = WeaponDirector, Builder = WeaponBuilder, Product = WeaponData. Las 5 armas irregulares usan el Builder directo. Valores verificados idénticos.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Director guarda el orden de pasos; cada arma solo aporta sus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crear objetos copiando un prototipo. WeaponData.clone() usa duplicate(); WeaponPrototypeRegistry guarda los prototipos. Prueba: prototipo 12.0, clon balanceado 10.2. Desventaja: copia superficial, suficiente porque solo hay primitivos.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Clave: _apply_balance ahora trabaja sobre clones; el prototipo conserva 12.0 de daño en la espada.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cambio fue de limpieza, no de estructura. GameState tiene 10 referencias (main, wave_manager, game_start_facade). Los Autoloads de project.godot también son Singletons gestionados por el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añadir responsabilidades envolviendo el objeto. Component = DamageSource, ConcreteComponent = BaseWeaponDamage, Decorator = DamageDecorator, ConcreteDecorators = Berserk, Upgrade y StatBlock. Prueba: 24.8625 igual al valor esperado. Desventaja: 5 objetos por cálculo de daño.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la cadena estaba escrita dos veces; ahora cada multiplicador es una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compartir el estado intrínseco entre muchos objetos. Flyweight = EnemyTypeFlyweight, FlyweightFactory = EnemyTypeFlyweightFactory; estado extrínseco en EnemyData. Con cientos de enemigos solo existen 6 flyweights. Encaja con el requisito de rendimiento móvil.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8 asignaciones por tipo en cada clase; ahora una llamada a la fábrica de flyweights.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QUÉ: convertir una interfaz en la que espera el cliente. Target = MovementSource; Adapters = Touch, Keyboard, Gamepad; Adaptees = VirtualInput e Input; Client = PlayerInputController. Comportamiento idéntico: prioridad táctil, suma teclado + mando.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controlador ya no conoce VirtualInput ni las teclas; solo combina fuentes MovementSource.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Patrón de la entrega anterior; se mantiene y se cuenta como estructural adicional. Los tres estructurales mínimos de la guía son Decorator, Flyweight y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del Formato de Control de Cambios: clases modificadas, problema previo y mejora, con trazabilidad patrón-código. Detalle completo en docs/entrega3/01_control_cambios.md.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AJ-01 no es un patrón GoF: es la corrección del Object Pool. El Facade es de la entrega anterior.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el proyecto en Godot antes y comprobar que corre. Tener el código ANTES (git show) y DESPUÉS en pestañas para cada patrón.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Cifras: 17 clases nuevas (listadas en el UML), 2 eliminadas. Verificación en Godot 4.7.1: proyecto abre sin errores y la escena de juego corre 600 fotogramas sin errores de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beneficios (OCP, menos duplicación) y costos (más clases). Mencionar el trabajo futuro honestamente.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057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593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54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941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292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167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6034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033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112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648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7111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AB1C2-E1AD-4C84-9021-CB754C4B61EB}" type="datetimeFigureOut">
              <a:rPr lang="es-CO" smtClean="0"/>
              <a:t>26/10/2026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D2035-BB92-4AAE-B9A5-EFEA9ADB34B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3360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9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63805" y="13939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s-ES" sz="3600" b="1">
                <a:ea typeface="Calibri Light"/>
                <a:cs typeface="Calibri Light"/>
              </a:rPr>
            </a:br>
            <a:br>
              <a:rPr lang="es-ES" sz="3600" b="1">
                <a:ea typeface="Calibri Light"/>
                <a:cs typeface="Calibri Light"/>
              </a:rPr>
            </a:br>
            <a:r>
              <a:rPr lang="es-ES" sz="3600" b="1">
                <a:solidFill>
                  <a:schemeClr val="accent5">
                    <a:lumMod val="75000"/>
                  </a:schemeClr>
                </a:solidFill>
              </a:rPr>
              <a:t>PATRONES DE DISEÑO EN</a:t>
            </a:r>
            <a:br>
              <a:rPr lang="es-ES" sz="3600" b="1">
                <a:ea typeface="Calibri Light"/>
                <a:cs typeface="Calibri Light"/>
              </a:rPr>
            </a:br>
            <a:r>
              <a:rPr lang="es-ES" sz="3600" b="1">
                <a:solidFill>
                  <a:schemeClr val="accent5">
                    <a:lumMod val="75000"/>
                  </a:schemeClr>
                </a:solidFill>
                <a:ea typeface="Calibri Light"/>
                <a:cs typeface="Calibri Light"/>
              </a:rPr>
              <a:t>RUMBANG</a:t>
            </a:r>
            <a:br>
              <a:rPr lang="es-ES" sz="3600" b="1"/>
            </a:br>
            <a:endParaRPr lang="es-CO" sz="3600" b="1">
              <a:solidFill>
                <a:schemeClr val="accent5">
                  <a:lumMod val="75000"/>
                </a:schemeClr>
              </a:solidFill>
              <a:ea typeface="Calibri Light"/>
              <a:cs typeface="Calibri Ligh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A48A5C1-EBAA-972F-862F-ED633291958E}"/>
              </a:ext>
            </a:extLst>
          </p:cNvPr>
          <p:cNvSpPr txBox="1"/>
          <p:nvPr/>
        </p:nvSpPr>
        <p:spPr>
          <a:xfrm>
            <a:off x="2885461" y="46097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/>
              <a:t>Facultad de Ingeniería y Tecnología</a:t>
            </a:r>
            <a:endParaRPr lang="es-CO" sz="28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61DE47-675A-D993-40BB-7EB2B30E77D6}"/>
              </a:ext>
            </a:extLst>
          </p:cNvPr>
          <p:cNvSpPr txBox="1"/>
          <p:nvPr/>
        </p:nvSpPr>
        <p:spPr>
          <a:xfrm>
            <a:off x="4700335" y="5877581"/>
            <a:ext cx="246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2400"/>
              <a:t>Valledupar 2026-2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B25B631-B5D7-FB7A-B49A-B7C6AD9F07BE}"/>
              </a:ext>
            </a:extLst>
          </p:cNvPr>
          <p:cNvSpPr txBox="1"/>
          <p:nvPr/>
        </p:nvSpPr>
        <p:spPr>
          <a:xfrm>
            <a:off x="3408121" y="3152891"/>
            <a:ext cx="4855368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s-CO" sz="2400"/>
              <a:t>HECTOR ARTURO GUERRA PEREZ </a:t>
            </a:r>
          </a:p>
          <a:p>
            <a:pPr algn="ctr"/>
            <a:r>
              <a:rPr lang="es-CO" sz="2400"/>
              <a:t>MAIKEL ALEXIS PAYARES DOMINGUEZ</a:t>
            </a:r>
          </a:p>
        </p:txBody>
      </p:sp>
      <p:sp>
        <p:nvSpPr>
          <p:cNvPr id="9" name="Subtítulo"/>
          <p:cNvSpPr txBox="1"/>
          <p:nvPr/>
        </p:nvSpPr>
        <p:spPr>
          <a:xfrm>
            <a:off x="2885461" y="4090000"/>
            <a:ext cx="6096000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B6FB8"/>
                </a:solidFill>
              </a:rPr>
              <a:t>Patrones creacionales y estructurales · Entrega 3</a:t>
            </a:r>
          </a:p>
        </p:txBody>
      </p:sp>
    </p:spTree>
    <p:extLst>
      <p:ext uri="{BB962C8B-B14F-4D97-AF65-F5344CB8AC3E}">
        <p14:creationId xmlns:p14="http://schemas.microsoft.com/office/powerpoint/2010/main" val="4147045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23302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Contexto del proyecto</a:t>
            </a:r>
          </a:p>
        </p:txBody>
      </p:sp>
      <p:sp>
        <p:nvSpPr>
          <p:cNvPr id="3" name="Contexto"/>
          <p:cNvSpPr txBox="1"/>
          <p:nvPr/>
        </p:nvSpPr>
        <p:spPr>
          <a:xfrm>
            <a:off x="600000" y="1950000"/>
            <a:ext cx="6300000" cy="3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</a:rPr>
              <a:t>RUMBANG </a:t>
            </a:r>
            <a:r>
              <a:rPr sz="1700" b="0">
                <a:solidFill>
                  <a:srgbClr val="1F2937"/>
                </a:solidFill>
              </a:rPr>
              <a:t>es un roguelike de supervivencia 3D en tercera persona hecho con Godot 4.7 y GDScript.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</a:rPr>
              <a:t>Oleadas de enemigos que aparecen en anillos alrededor del jugador, con jefe final.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937"/>
                </a:solidFill>
              </a:rPr>
              <a:t>Armas con mejoras propias, oro, experiencia y objetos coleccionables.</a:t>
            </a:r>
          </a:p>
          <a:p>
            <a:pPr algn="l"/>
            <a:r>
              <a:rPr sz="1700" b="0">
                <a:solidFill>
                  <a:srgbClr val="1F2937"/>
                </a:solidFill>
              </a:rPr>
              <a:t>Pensado para correr fluido en móvil: pools de objetos, impostores y MultiMesh.</a:t>
            </a:r>
          </a:p>
        </p:txBody>
      </p:sp>
      <p:sp>
        <p:nvSpPr>
          <p:cNvPr id="4" name="Tarjeta armas jugables"/>
          <p:cNvSpPr/>
          <p:nvPr/>
        </p:nvSpPr>
        <p:spPr>
          <a:xfrm>
            <a:off x="7300000" y="1950000"/>
            <a:ext cx="3900000" cy="102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ifra armas jugables"/>
          <p:cNvSpPr txBox="1"/>
          <p:nvPr/>
        </p:nvSpPr>
        <p:spPr>
          <a:xfrm>
            <a:off x="7500000" y="2060000"/>
            <a:ext cx="14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1B6FB8"/>
                </a:solidFill>
              </a:rPr>
              <a:t>11</a:t>
            </a:r>
          </a:p>
        </p:txBody>
      </p:sp>
      <p:sp>
        <p:nvSpPr>
          <p:cNvPr id="6" name="Etiqueta armas jugables"/>
          <p:cNvSpPr txBox="1"/>
          <p:nvPr/>
        </p:nvSpPr>
        <p:spPr>
          <a:xfrm>
            <a:off x="8950000" y="2060000"/>
            <a:ext cx="21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0B2F5B"/>
                </a:solidFill>
              </a:rPr>
              <a:t>armas jugables</a:t>
            </a:r>
          </a:p>
        </p:txBody>
      </p:sp>
      <p:sp>
        <p:nvSpPr>
          <p:cNvPr id="7" name="Tarjeta tipos de enemigo"/>
          <p:cNvSpPr/>
          <p:nvPr/>
        </p:nvSpPr>
        <p:spPr>
          <a:xfrm>
            <a:off x="7300000" y="3130000"/>
            <a:ext cx="3900000" cy="102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ifra tipos de enemigo"/>
          <p:cNvSpPr txBox="1"/>
          <p:nvPr/>
        </p:nvSpPr>
        <p:spPr>
          <a:xfrm>
            <a:off x="7500000" y="3240000"/>
            <a:ext cx="14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1B6FB8"/>
                </a:solidFill>
              </a:rPr>
              <a:t>6</a:t>
            </a:r>
          </a:p>
        </p:txBody>
      </p:sp>
      <p:sp>
        <p:nvSpPr>
          <p:cNvPr id="9" name="Etiqueta tipos de enemigo"/>
          <p:cNvSpPr txBox="1"/>
          <p:nvPr/>
        </p:nvSpPr>
        <p:spPr>
          <a:xfrm>
            <a:off x="8950000" y="3240000"/>
            <a:ext cx="21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0B2F5B"/>
                </a:solidFill>
              </a:rPr>
              <a:t>tipos de enemigo</a:t>
            </a:r>
          </a:p>
        </p:txBody>
      </p:sp>
      <p:sp>
        <p:nvSpPr>
          <p:cNvPr id="10" name="Tarjeta patrones aplicados"/>
          <p:cNvSpPr/>
          <p:nvPr/>
        </p:nvSpPr>
        <p:spPr>
          <a:xfrm>
            <a:off x="7300000" y="4310000"/>
            <a:ext cx="3900000" cy="102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ifra patrones aplicados"/>
          <p:cNvSpPr txBox="1"/>
          <p:nvPr/>
        </p:nvSpPr>
        <p:spPr>
          <a:xfrm>
            <a:off x="7500000" y="4420000"/>
            <a:ext cx="140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1B6FB8"/>
                </a:solidFill>
              </a:rPr>
              <a:t>9</a:t>
            </a:r>
          </a:p>
        </p:txBody>
      </p:sp>
      <p:sp>
        <p:nvSpPr>
          <p:cNvPr id="12" name="Etiqueta patrones aplicados"/>
          <p:cNvSpPr txBox="1"/>
          <p:nvPr/>
        </p:nvSpPr>
        <p:spPr>
          <a:xfrm>
            <a:off x="8950000" y="4420000"/>
            <a:ext cx="21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0B2F5B"/>
                </a:solidFill>
              </a:rPr>
              <a:t>patrones aplicados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Requerimientos</a:t>
            </a:r>
          </a:p>
        </p:txBody>
      </p:sp>
      <p:sp>
        <p:nvSpPr>
          <p:cNvPr id="3" name="Cabecera Funcionales"/>
          <p:cNvSpPr/>
          <p:nvPr/>
        </p:nvSpPr>
        <p:spPr>
          <a:xfrm>
            <a:off x="600000" y="1950000"/>
            <a:ext cx="5200000" cy="48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Funcionales</a:t>
            </a:r>
          </a:p>
        </p:txBody>
      </p:sp>
      <p:sp>
        <p:nvSpPr>
          <p:cNvPr id="4" name="Lista Funcionales"/>
          <p:cNvSpPr txBox="1"/>
          <p:nvPr/>
        </p:nvSpPr>
        <p:spPr>
          <a:xfrm>
            <a:off x="720000" y="2570000"/>
            <a:ext cx="4960000" cy="2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Combate con 11 armas y mejoras por arma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Oleadas de enemigos y jefe final (Nigromante)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Botín: oro, experiencia y armas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Selección de personaje y progreso guardado</a:t>
            </a:r>
          </a:p>
        </p:txBody>
      </p:sp>
      <p:sp>
        <p:nvSpPr>
          <p:cNvPr id="5" name="Cabecera No funcionales"/>
          <p:cNvSpPr/>
          <p:nvPr/>
        </p:nvSpPr>
        <p:spPr>
          <a:xfrm>
            <a:off x="6100000" y="1950000"/>
            <a:ext cx="5200000" cy="480000"/>
          </a:xfrm>
          <a:prstGeom prst="round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No funcionales</a:t>
            </a:r>
          </a:p>
        </p:txBody>
      </p:sp>
      <p:sp>
        <p:nvSpPr>
          <p:cNvPr id="6" name="Lista No funcionales"/>
          <p:cNvSpPr txBox="1"/>
          <p:nvPr/>
        </p:nvSpPr>
        <p:spPr>
          <a:xfrm>
            <a:off x="6220000" y="2570000"/>
            <a:ext cx="4960000" cy="2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Rendimiento fluido en móvil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Extensibilidad: armas y enemigos nuevos sin tocar el núcleo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Mantenibilidad: SOLID y patrones de diseño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Portabilidad PC y Android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Arquitectura C4</a:t>
            </a:r>
          </a:p>
        </p:txBody>
      </p:sp>
      <p:sp>
        <p:nvSpPr>
          <p:cNvPr id="3" name="Nivel 1 · Contexto"/>
          <p:cNvSpPr/>
          <p:nvPr/>
        </p:nvSpPr>
        <p:spPr>
          <a:xfrm>
            <a:off x="600000" y="1950000"/>
            <a:ext cx="3500000" cy="48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Nivel 1 · Contexto</a:t>
            </a:r>
          </a:p>
        </p:txBody>
      </p:sp>
      <p:sp>
        <p:nvSpPr>
          <p:cNvPr id="4" name="Fondo Nivel 1 · Contexto"/>
          <p:cNvSpPr/>
          <p:nvPr/>
        </p:nvSpPr>
        <p:spPr>
          <a:xfrm>
            <a:off x="600000" y="2490000"/>
            <a:ext cx="3500000" cy="2650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lementos Nivel 1 · Contexto"/>
          <p:cNvSpPr txBox="1"/>
          <p:nvPr/>
        </p:nvSpPr>
        <p:spPr>
          <a:xfrm>
            <a:off x="750000" y="2630000"/>
            <a:ext cx="320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Jugador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Desarrollador / IA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RUMBANG (sistema)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LocalKeep Server (externo)</a:t>
            </a:r>
          </a:p>
        </p:txBody>
      </p:sp>
      <p:sp>
        <p:nvSpPr>
          <p:cNvPr id="6" name="Nivel 2 · Contenedores"/>
          <p:cNvSpPr/>
          <p:nvPr/>
        </p:nvSpPr>
        <p:spPr>
          <a:xfrm>
            <a:off x="4300000" y="1950000"/>
            <a:ext cx="3500000" cy="48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Nivel 2 · Contenedores</a:t>
            </a:r>
          </a:p>
        </p:txBody>
      </p:sp>
      <p:sp>
        <p:nvSpPr>
          <p:cNvPr id="7" name="Fondo Nivel 2 · Contenedores"/>
          <p:cNvSpPr/>
          <p:nvPr/>
        </p:nvSpPr>
        <p:spPr>
          <a:xfrm>
            <a:off x="4300000" y="2490000"/>
            <a:ext cx="3500000" cy="2650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lementos Nivel 2 · Contenedores"/>
          <p:cNvSpPr txBox="1"/>
          <p:nvPr/>
        </p:nvSpPr>
        <p:spPr>
          <a:xfrm>
            <a:off x="4450000" y="2630000"/>
            <a:ext cx="320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Godot Engine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Game Application (GDScript)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MCP Toolkit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Terrain3D (plugin C++)</a:t>
            </a:r>
          </a:p>
        </p:txBody>
      </p:sp>
      <p:sp>
        <p:nvSpPr>
          <p:cNvPr id="9" name="Nivel 3 · Componentes"/>
          <p:cNvSpPr/>
          <p:nvPr/>
        </p:nvSpPr>
        <p:spPr>
          <a:xfrm>
            <a:off x="8000000" y="1950000"/>
            <a:ext cx="3500000" cy="480000"/>
          </a:xfrm>
          <a:prstGeom prst="round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Nivel 3 · Componentes</a:t>
            </a:r>
          </a:p>
        </p:txBody>
      </p:sp>
      <p:sp>
        <p:nvSpPr>
          <p:cNvPr id="10" name="Fondo Nivel 3 · Componentes"/>
          <p:cNvSpPr/>
          <p:nvPr/>
        </p:nvSpPr>
        <p:spPr>
          <a:xfrm>
            <a:off x="8000000" y="2490000"/>
            <a:ext cx="3500000" cy="2650000"/>
          </a:xfrm>
          <a:prstGeom prst="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lementos Nivel 3 · Componentes"/>
          <p:cNvSpPr txBox="1"/>
          <p:nvPr/>
        </p:nvSpPr>
        <p:spPr>
          <a:xfrm>
            <a:off x="8150000" y="2630000"/>
            <a:ext cx="3200000" cy="2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Core Managers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Player Controllers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Game Systems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World Objects</a:t>
            </a:r>
          </a:p>
          <a:p>
            <a:pPr algn="l">
              <a:spcAft>
                <a:spcPts val="900"/>
              </a:spcAft>
            </a:pPr>
            <a:r>
              <a:rPr sz="1600" b="0">
                <a:solidFill>
                  <a:srgbClr val="1F2937"/>
                </a:solidFill>
              </a:rPr>
              <a:t>Interfaz (UI)</a:t>
            </a:r>
          </a:p>
        </p:txBody>
      </p:sp>
      <p:sp>
        <p:nvSpPr>
          <p:cNvPr id="12" name="Resumen"/>
          <p:cNvSpPr txBox="1"/>
          <p:nvPr/>
        </p:nvSpPr>
        <p:spPr>
          <a:xfrm>
            <a:off x="600000" y="5560000"/>
            <a:ext cx="89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Los patrones de esta entrega viven en el nivel 3: Core Managers, Player Controllers y Game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Patrones incorporados</a:t>
            </a:r>
          </a:p>
        </p:txBody>
      </p:sp>
      <p:graphicFrame>
        <p:nvGraphicFramePr>
          <p:cNvPr id="3" name="Tabla de patrones"/>
          <p:cNvGraphicFramePr>
            <a:graphicFrameLocks noGrp="1"/>
          </p:cNvGraphicFramePr>
          <p:nvPr/>
        </p:nvGraphicFramePr>
        <p:xfrm>
          <a:off x="600000" y="1850000"/>
          <a:ext cx="110000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000"/>
                <a:gridCol w="2300000"/>
                <a:gridCol w="1600000"/>
                <a:gridCol w="6300000"/>
              </a:tblGrid>
              <a:tr h="33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30000" marB="3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Patrón</a:t>
                      </a:r>
                    </a:p>
                  </a:txBody>
                  <a:tcPr marT="30000" marB="3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T="30000" marB="3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Clases principales</a:t>
                      </a:r>
                    </a:p>
                  </a:txBody>
                  <a:tcPr marT="30000" marB="30000" anchor="ctr">
                    <a:solidFill>
                      <a:srgbClr val="0B2F5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PE-01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Factory Method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Creacional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EnemyCreator, BossCreator, NecromancerBossCreator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PE-02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Abstract Factory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Creacional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PlatformFactory, Mobile/DesktopPlatformFactory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PE-03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Builder + Director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Creacional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WeaponBuilder, WeaponDirector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PE-04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Prototype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Creacional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WeaponData.clone(), WeaponPrototypeRegistry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PE-05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Singleton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Creacional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GameState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PE-06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Decorator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Estructural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DamageSource y decoradores de daño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PE-07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Flyweight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Estructural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EnemyTypeFlyweight y su fábrica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PE-08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Adapter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Estructural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MovementSource y 3 adaptadores</a:t>
                      </a:r>
                    </a:p>
                  </a:txBody>
                  <a:tcPr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PE-09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</a:rPr>
                        <a:t>Facade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Estructural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</a:rPr>
                        <a:t>GameStartFacade</a:t>
                      </a:r>
                    </a:p>
                  </a:txBody>
                  <a:tcPr marT="30000" marB="30000"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Factory Method · Creacional</a:t>
            </a:r>
          </a:p>
        </p:txBody>
      </p:sp>
      <p:pic>
        <p:nvPicPr>
          <p:cNvPr id="3" name="Diagrama ANTES" descr="fm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23" y="1950000"/>
            <a:ext cx="4554069" cy="3500000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1603323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fm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393" y="1950000"/>
            <a:ext cx="4011282" cy="3500000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6577393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fábrica estática con match sobre strings; cada jefe nuevo obligaba a editarla. Después: Creator y ConcreteCreator; un jefe nuevo es una subclase nueva.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Factory Method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static func create_enemy(type: String) -&gt; Node3D: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match type: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"boss":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scene = preload("res://scenes/entities/boss.tscn")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"necromancer":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scene = preload("res://scenes/.../necromancer_boss.tscn")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_: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push_error("Tipo de enemigo desconocido")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return null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...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cliente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var boss = EnemyFactory.create_enemy("necromancer")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2E7D32"/>
                </a:solidFill>
                <a:latin typeface="Consolas"/>
              </a:rPr>
              <a:t># EnemyCreator (Creator)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create_enemy() -&gt; Node3D: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enemy := _create_product()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_configure(enemy)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enemy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_create_product() -&gt; Node3D:  # factory method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null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NecromancerBossCreator (ConcreteCreator)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_create_product() -&gt; Node3D: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NECROMANCER_SCENE.instantiate()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cliente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var boss = NecromancerBossCreator.new().create_enemy()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Abstract Factory · Creacional</a:t>
            </a:r>
          </a:p>
        </p:txBody>
      </p:sp>
      <p:pic>
        <p:nvPicPr>
          <p:cNvPr id="3" name="Diagrama abstract_factory.png" descr="abstract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929" y="1950000"/>
            <a:ext cx="2142140" cy="3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0000" y="195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Problema: </a:t>
            </a:r>
            <a:r>
              <a:rPr sz="1500" b="0">
                <a:solidFill>
                  <a:srgbClr val="1F2937"/>
                </a:solidFill>
              </a:rPr>
              <a:t>condicionales de plataforma esparcidos por main.gd.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283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Solución: </a:t>
            </a:r>
            <a:r>
              <a:rPr sz="1500" b="0">
                <a:solidFill>
                  <a:srgbClr val="1F2937"/>
                </a:solidFill>
              </a:rPr>
              <a:t>PlatformFactory crea la familia móvil o escritorio: entorno, viewport, luz, controles y mapa.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000" y="371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Beneficio: </a:t>
            </a:r>
            <a:r>
              <a:rPr sz="1500" b="0">
                <a:solidFill>
                  <a:srgbClr val="1F2937"/>
                </a:solidFill>
              </a:rPr>
              <a:t>agregar una plataforma es agregar una fábrica concreta.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459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Limitación: </a:t>
            </a:r>
            <a:r>
              <a:rPr sz="1500" b="0">
                <a:solidFill>
                  <a:srgbClr val="1F2937"/>
                </a:solidFill>
              </a:rPr>
              <a:t>casi todo son configure_*; solo create_controls devuelve un producto.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Builder + Director · Creacional</a:t>
            </a:r>
          </a:p>
        </p:txBody>
      </p:sp>
      <p:pic>
        <p:nvPicPr>
          <p:cNvPr id="3" name="Diagrama ANTES" descr="builder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70" y="1950000"/>
            <a:ext cx="1431284" cy="3500000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366897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builder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255" y="1950000"/>
            <a:ext cx="3002774" cy="3500000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5520255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cada arma encadenaba los pasos a mano (11 veces). Después: WeaponDirector encapsula las recetas; 6 armas se declaran en una línea con los mismos valores.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Builder + Director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2E7D32"/>
                </a:solidFill>
                <a:latin typeface="Consolas"/>
              </a:rPr>
              <a:t># weapon_data.gd: cada arma encadena los pasos a mano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WeaponType.SPEAR_LANCE: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WeaponBuilder.new(5, "Espalanza de Mikeura", ic, "melee")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.set_combat(15.0, 0.50, 5.0)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.set_projectile(0.0, 1, 80.0)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.build(),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WeaponType.FLAME_THROWER: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WeaponBuilder.new(6, "Lanzallamas", ic, "melee")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.set_combat(2.0, 0.20, 11.0)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.set_projectile(0.0, 1, 35.0)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.build(),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2E7D32"/>
                </a:solidFill>
                <a:latin typeface="Consolas"/>
              </a:rPr>
              <a:t># weapon_data.gd: una línea por arma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WeaponType.SPEAR_LANCE: WeaponDirector.construct_melee(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WeaponBuilder.new(5, "Espalanza de Mikeura", ic, "melee"),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15.0, 0.50, 5.0, 80.0),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WeaponDirector (Director)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static func construct_melee(builder, dmg, cd, reach, angle):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builder.set_combat(dmg, cd, reach) \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.set_projectile(0.0, 1, angle) \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.build()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Prototype · Creacional</a:t>
            </a:r>
          </a:p>
        </p:txBody>
      </p:sp>
      <p:pic>
        <p:nvPicPr>
          <p:cNvPr id="3" name="Diagrama ANTES" descr="proto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2137638"/>
            <a:ext cx="8113961" cy="3124722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proto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961" y="2137638"/>
            <a:ext cx="2458038" cy="3124722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9133961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_apply_balance() modificaba la ficha original y perdía el valor base. Después: las fichas son prototipos intactos y el juego usa clones balanceados (espada: 12.0 frente a 10.2).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Prototype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static func get_weapon_table() -&gt; Dictionary: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_weapon_table_cache.is_empty():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_weapon_table_cache = _build_weapon_table()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_apply_balance(_weapon_table_cache)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_weapon_table_cache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static func _apply_balance(table: Dictionary) -&gt; void: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for key in table: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var d: WeaponData = table[key]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    # modifica la ficha ORIGINAL: se pierde el valor base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d.base_damage *= BASE_DAMAGE_MULT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func clone() -&gt; WeaponData: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duplicate() as WeaponData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static func get_weapon_table() -&gt; Dictionary: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_weapon_table_cache.is_empty():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    # prototipos intactos en el registro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WeaponPrototypeRegistry.register_all(_build_weapon_table())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for key in WeaponType.values():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if WeaponPrototypeRegistry.has_prototype(key):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  _weapon_table_cache[key] = \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    WeaponPrototypeRegistry.clone_of(key)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_apply_balance(_weapon_table_cache)  # solo los clones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_weapon_table_cache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Singleton · Creacional</a:t>
            </a:r>
          </a:p>
        </p:txBody>
      </p:sp>
      <p:pic>
        <p:nvPicPr>
          <p:cNvPr id="3" name="Diagrama singleton.png" descr="singlet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594" y="1950000"/>
            <a:ext cx="4060810" cy="3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0000" y="195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Problema: </a:t>
            </a:r>
            <a:r>
              <a:rPr sz="1500" b="0">
                <a:solidFill>
                  <a:srgbClr val="1F2937"/>
                </a:solidFill>
              </a:rPr>
              <a:t>existían dos Singleton: GameState, en uso, y GameManagerSingleton, sin ninguna referencia.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283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Solución: </a:t>
            </a:r>
            <a:r>
              <a:rPr sz="1500" b="0">
                <a:solidFill>
                  <a:srgbClr val="1F2937"/>
                </a:solidFill>
              </a:rPr>
              <a:t>se eliminó el duplicado; GameState es el único Singleton de estado de partida.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000" y="371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Beneficio: </a:t>
            </a:r>
            <a:r>
              <a:rPr sz="1500" b="0">
                <a:solidFill>
                  <a:srgbClr val="1F2937"/>
                </a:solidFill>
              </a:rPr>
              <a:t>una sola fuente de verdad, sin nodo en el árbol de escena.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459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Desventaja: </a:t>
            </a:r>
            <a:r>
              <a:rPr sz="1500" b="0">
                <a:solidFill>
                  <a:srgbClr val="1F2937"/>
                </a:solidFill>
              </a:rPr>
              <a:t>estado global oculto y pruebas más difíciles.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Decorator · Estructural</a:t>
            </a:r>
          </a:p>
        </p:txBody>
      </p:sp>
      <p:pic>
        <p:nvPicPr>
          <p:cNvPr id="3" name="Diagrama ANTES" descr="decorator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45" y="1950000"/>
            <a:ext cx="5722908" cy="3500000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734545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decorator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454" y="1950000"/>
            <a:ext cx="4580000" cy="3500000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6877454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dos funciones repetían la cadena de multiplicadores de daño. Después: cada modificador (berserk, mejoras, stats) es un decorador apilable con el mismo resultado.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Decorator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func _weapon_damage(weapon_type: int) -&gt; float: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base = WeaponData.weapon_damage(weapon_type, is_berserk)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mods = get_weapon_modifiers(weapon_type)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base * mods.damage * (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stat_block.damage_mult() if stat_block else 1.0)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_weapon_heavy_damage(weapon_type: int) -&gt; float: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base = WeaponData.weapon_heavy_damage(weapon_type, is_berserk)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mods = get_weapon_modifiers(weapon_type)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base * mods.damage * (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stat_block.damage_mult() if stat_block else 1.0)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misma cadena escrita dos veces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func _weapon_damage(t: int) -&gt; float: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_damage_chain(t, false).value()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_weapon_heavy_damage(t: int) -&gt; float: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_damage_chain(t, true).value()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_damage_chain(t: int, heavy: bool) -&gt; DamageSource: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data := get_weapon_data(t)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dmg: DamageSource = BaseWeaponDamage.new(data, heavy)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dmg = BerserkDamageDecorator.new(dmg, data, is_berserk)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dmg = UpgradeDamageDecorator.new(dmg, get_weapon_modifiers(t))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dmg = StatBlockDamageDecorator.new(dmg, stat_block)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dmg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Flyweight · Estructural</a:t>
            </a:r>
          </a:p>
        </p:txBody>
      </p:sp>
      <p:pic>
        <p:nvPicPr>
          <p:cNvPr id="3" name="Diagrama ANTES" descr="flyweight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160" y="1950000"/>
            <a:ext cx="7247679" cy="3500000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127216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flyweight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9839" y="1950000"/>
            <a:ext cx="1980000" cy="3500000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8939839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cada enemigo asignaba 8 valores literales de su tipo en cada aparición. Después: 6 flyweights compartidos; la posición y la vida actual quedan en cada enemigo.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Flyweight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class HeavyBruteBehavior extends MeleeGoblinBehavior: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func apply_config() -&gt; void: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enemy.max_hp = 90.0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enemy.hp = 90.0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enemy.speed = 2.0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enemy.attack_range = 1.4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enemy.damage = 0.5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enemy.gold_reward = 15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enemy.base_color = Color.WHITE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enemy.scale = Vector3(1.5, 1.5, 1.5)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igual en las 6 clases de comportamiento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class HeavyBruteBehavior extends MeleeGoblinBehavior: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func apply_config() -&gt; void: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EnemyTypeFlyweightFactory \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.get_flyweight(EnemyData.EnemyType.HEAVY_BRUTE) \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  .apply_to(enemy)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2E7D32"/>
                </a:solidFill>
                <a:latin typeface="Consolas"/>
              </a:rPr>
              <a:t># EnemyTypeFlyweightFactory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static func get_flyweight(type: int) -&gt; EnemyTypeFlyweight: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not _pool.has(type):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_pool[type] = _create(type)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_pool[type]   # siempre el mismo objeto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Adapter · Estructural</a:t>
            </a:r>
          </a:p>
        </p:txBody>
      </p:sp>
      <p:pic>
        <p:nvPicPr>
          <p:cNvPr id="3" name="Diagrama ANTES" descr="adapter_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803" y="1950000"/>
            <a:ext cx="4157601" cy="3500000"/>
          </a:xfrm>
          <a:prstGeom prst="rect">
            <a:avLst/>
          </a:prstGeom>
        </p:spPr>
      </p:pic>
      <p:sp>
        <p:nvSpPr>
          <p:cNvPr id="4" name="Etiqueta ANTES"/>
          <p:cNvSpPr/>
          <p:nvPr/>
        </p:nvSpPr>
        <p:spPr>
          <a:xfrm>
            <a:off x="1728803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pic>
        <p:nvPicPr>
          <p:cNvPr id="5" name="Diagrama DESPUÉS" descr="adapter_desp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405" y="1950000"/>
            <a:ext cx="4156790" cy="3500000"/>
          </a:xfrm>
          <a:prstGeom prst="rect">
            <a:avLst/>
          </a:prstGeom>
        </p:spPr>
      </p:pic>
      <p:sp>
        <p:nvSpPr>
          <p:cNvPr id="6" name="Etiqueta DESPUÉS"/>
          <p:cNvSpPr/>
          <p:nvPr/>
        </p:nvSpPr>
        <p:spPr>
          <a:xfrm>
            <a:off x="6306405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Resumen"/>
          <p:cNvSpPr txBox="1"/>
          <p:nvPr/>
        </p:nvSpPr>
        <p:spPr>
          <a:xfrm>
            <a:off x="600000" y="5580000"/>
            <a:ext cx="8900000" cy="7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Antes: un solo método mezclaba joystick táctil, teclado y mando. Después: cada fuente se adapta a MovementSource; un periférico nuevo es un adaptador nuevo.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Código · Adapter</a:t>
            </a:r>
          </a:p>
        </p:txBody>
      </p:sp>
      <p:sp>
        <p:nvSpPr>
          <p:cNvPr id="3" name="Etiqueta ANTES"/>
          <p:cNvSpPr/>
          <p:nvPr/>
        </p:nvSpPr>
        <p:spPr>
          <a:xfrm>
            <a:off x="600000" y="1610000"/>
            <a:ext cx="1500000" cy="300000"/>
          </a:xfrm>
          <a:prstGeom prst="roundRect">
            <a:avLst/>
          </a:prstGeom>
          <a:solidFill>
            <a:srgbClr val="5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ANTES</a:t>
            </a:r>
          </a:p>
        </p:txBody>
      </p:sp>
      <p:sp>
        <p:nvSpPr>
          <p:cNvPr id="4" name="Panel código ANTES"/>
          <p:cNvSpPr/>
          <p:nvPr/>
        </p:nvSpPr>
        <p:spPr>
          <a:xfrm>
            <a:off x="600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5B7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ódigo ANTES"/>
          <p:cNvSpPr txBox="1"/>
          <p:nvPr/>
        </p:nvSpPr>
        <p:spPr>
          <a:xfrm>
            <a:off x="710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func get_movement_vector() -&gt; Vector2: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VirtualInput.movement_vector.length_squared() &gt; 0.01: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return VirtualInput.movement_vector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x := 0.0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y := 0.0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Input.is_key_pressed(KEY_W): y -= 1.0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Input.is_key_pressed(KEY_S): y += 1.0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Input.is_key_pressed(KEY_A): x -= 1.0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Input.is_key_pressed(KEY_D): x += 1.0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joy_x = Input.get_joy_axis(0, JOY_AXIS_LEFT_X)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joy_y = Input.get_joy_axis(0, JOY_AXIS_LEFT_Y)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abs(joy_x) &gt; 0.2: x += joy_x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abs(joy_y) &gt; 0.2: y += joy_y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Vector2(x, y).limit_length(1.0)</a:t>
            </a:r>
          </a:p>
        </p:txBody>
      </p:sp>
      <p:sp>
        <p:nvSpPr>
          <p:cNvPr id="6" name="Etiqueta DESPUÉS"/>
          <p:cNvSpPr/>
          <p:nvPr/>
        </p:nvSpPr>
        <p:spPr>
          <a:xfrm>
            <a:off x="6246000" y="1610000"/>
            <a:ext cx="1500000" cy="30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DESPUÉS</a:t>
            </a:r>
          </a:p>
        </p:txBody>
      </p:sp>
      <p:sp>
        <p:nvSpPr>
          <p:cNvPr id="7" name="Panel código DESPUÉS"/>
          <p:cNvSpPr/>
          <p:nvPr/>
        </p:nvSpPr>
        <p:spPr>
          <a:xfrm>
            <a:off x="6246000" y="1950000"/>
            <a:ext cx="5346000" cy="3550000"/>
          </a:xfrm>
          <a:prstGeom prst="roundRect">
            <a:avLst>
              <a:gd name="adj" fmla="val 2000"/>
            </a:avLst>
          </a:prstGeom>
          <a:solidFill>
            <a:srgbClr val="F3F6FA"/>
          </a:solidFill>
          <a:ln w="15875">
            <a:solidFill>
              <a:srgbClr val="1B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ódigo DESPUÉS"/>
          <p:cNvSpPr txBox="1"/>
          <p:nvPr/>
        </p:nvSpPr>
        <p:spPr>
          <a:xfrm>
            <a:off x="6356000" y="2040000"/>
            <a:ext cx="5126000" cy="33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1F2937"/>
                </a:solidFill>
                <a:latin typeface="Consolas"/>
              </a:rPr>
              <a:t>var _touch_source: MovementSource = TouchMovementAdapter.new()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var _direct_sources: Array[MovementSource] = [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KeyboardMovementAdapter.new(), GamepadMovementAdapter.new()]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func get_movement_vector() -&gt; Vector2: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touch := _touch_source.get_movement_vector()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if touch != Vector2.ZERO: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return touch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var total := Vector2.ZERO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for source in _direct_sources: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  total += source.get_movement_vector()</a:t>
            </a:r>
          </a:p>
          <a:p>
            <a:r>
              <a:rPr sz="1050">
                <a:solidFill>
                  <a:srgbClr val="1F2937"/>
                </a:solidFill>
                <a:latin typeface="Consolas"/>
              </a:rPr>
              <a:t>  return total.limit_length(1.0)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Facade · Estructural</a:t>
            </a:r>
          </a:p>
        </p:txBody>
      </p:sp>
      <p:pic>
        <p:nvPicPr>
          <p:cNvPr id="3" name="Diagrama facade.png" descr="fa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56" y="1950000"/>
            <a:ext cx="4866286" cy="3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00000" y="195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Problema: </a:t>
            </a:r>
            <a:r>
              <a:rPr sz="1500" b="0">
                <a:solidFill>
                  <a:srgbClr val="1F2937"/>
                </a:solidFill>
              </a:rPr>
              <a:t>Main orquestaba más de cuatro subsistemas directamente.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000" y="283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Solución: </a:t>
            </a:r>
            <a:r>
              <a:rPr sz="1500" b="0">
                <a:solidFill>
                  <a:srgbClr val="1F2937"/>
                </a:solidFill>
              </a:rPr>
              <a:t>GameStartFacade expone initialize(), start_game() y update_gold().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000" y="371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Beneficio: </a:t>
            </a:r>
            <a:r>
              <a:rPr sz="1500" b="0">
                <a:solidFill>
                  <a:srgbClr val="1F2937"/>
                </a:solidFill>
              </a:rPr>
              <a:t>Main depende de una sola clase.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00000" y="4590000"/>
            <a:ext cx="4800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</a:rPr>
              <a:t>Desventaja: </a:t>
            </a:r>
            <a:r>
              <a:rPr sz="1500" b="0">
                <a:solidFill>
                  <a:srgbClr val="1F2937"/>
                </a:solidFill>
              </a:rPr>
              <a:t>la fachada puede crecer demasiado.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Control de cambios (1/2) · Creacionales</a:t>
            </a:r>
          </a:p>
        </p:txBody>
      </p:sp>
      <p:graphicFrame>
        <p:nvGraphicFramePr>
          <p:cNvPr id="3" name="Tabla Control de cambios (1/2) · Creacionales"/>
          <p:cNvGraphicFramePr>
            <a:graphicFrameLocks noGrp="1"/>
          </p:cNvGraphicFramePr>
          <p:nvPr/>
        </p:nvGraphicFramePr>
        <p:xfrm>
          <a:off x="600000" y="1800000"/>
          <a:ext cx="10990000" cy="3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1450000"/>
                <a:gridCol w="2850000"/>
                <a:gridCol w="3050000"/>
                <a:gridCol w="2990000"/>
              </a:tblGrid>
              <a:tr h="33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Patrón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Clases modificadas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Problema previo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Mejora obtenida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PE-01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Factory Method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EnemyCreator, BossCreator, NecromancerBossCreator; main.gd, wave_manager.gd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EnemyFactory: match sobre strings; cada jefe obligaba a editarla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Jefe nuevo = subclase nueva; clientes sin rutas ni strings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PE-02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Abstract Factory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PlatformFactory, Mobile/DesktopPlatformFactory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if OS.get_name() esparcidos por main.gd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Una decisión crea la familia móvil o escritorio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PE-03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Builder + Director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WeaponBuilder, WeaponDirector, weapon_data.gd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Cada arma repetía el orden de pasos a mano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Recetas en el Director: 6 armas en una línea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PE-04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Prototype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WeaponData.clone(), WeaponPrototypeRegistry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_apply_balance() modificaba las fichas originales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Prototipos intactos; el juego usa clones balanceados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PE-05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Singleton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GameState; se elimina GameManagerSingleton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Dos Singleton; uno sin ninguna referencia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Un solo Singleton de estado de partida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Control de cambios (2/2) · Estructurales</a:t>
            </a:r>
          </a:p>
        </p:txBody>
      </p:sp>
      <p:graphicFrame>
        <p:nvGraphicFramePr>
          <p:cNvPr id="3" name="Tabla Control de cambios (2/2) · Estructurales"/>
          <p:cNvGraphicFramePr>
            <a:graphicFrameLocks noGrp="1"/>
          </p:cNvGraphicFramePr>
          <p:nvPr/>
        </p:nvGraphicFramePr>
        <p:xfrm>
          <a:off x="600000" y="1800000"/>
          <a:ext cx="10990000" cy="3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1450000"/>
                <a:gridCol w="2850000"/>
                <a:gridCol w="3050000"/>
                <a:gridCol w="2990000"/>
              </a:tblGrid>
              <a:tr h="330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Patrón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Clases modificadas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Problema previo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Mejora obtenida</a:t>
                      </a:r>
                    </a:p>
                  </a:txBody>
                  <a:tcPr marT="35000" marB="35000" marL="60000" marR="60000" anchor="ctr">
                    <a:solidFill>
                      <a:srgbClr val="0B2F5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PE-06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Decorator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DamageSource y 5 clases de daño; player.gd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Dos funciones repetían la cadena de multiplicadores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Modificador nuevo = decorador nuevo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PE-07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Flyweight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EnemyTypeFlyweight y su fábrica; enemy_behavior.gd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8 valores literales por tipo en cada aparición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6 flyweights compartidos por todos los enemigos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PE-08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Adapter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MovementSource y 3 adaptadores; player_input_controller.gd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Un método mezclaba táctil, teclado y mando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Periférico nuevo = adaptador nuevo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PE-09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Facade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GameStartFacade (de la entrega anterior)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Main orquestaba más de 4 subsistemas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Main usa una sola fachada</a:t>
                      </a:r>
                    </a:p>
                  </a:txBody>
                  <a:tcPr marT="35000" marB="35000" marL="60000" marR="60000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AJ-01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</a:rPr>
                        <a:t>Object Pool (ajuste)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PoolManager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Reutilizaba balas que seguían en vuelo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</a:rPr>
                        <a:t>Usa primero una bala libre</a:t>
                      </a:r>
                    </a:p>
                  </a:txBody>
                  <a:tcPr marT="35000" marB="35000" marL="60000" marR="60000"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Demostración</a:t>
            </a:r>
          </a:p>
        </p:txBody>
      </p:sp>
      <p:sp>
        <p:nvSpPr>
          <p:cNvPr id="3" name="Paso 1"/>
          <p:cNvSpPr/>
          <p:nvPr/>
        </p:nvSpPr>
        <p:spPr>
          <a:xfrm>
            <a:off x="600000" y="1870000"/>
            <a:ext cx="520000" cy="520000"/>
          </a:xfrm>
          <a:prstGeom prst="ellipse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o paso 1"/>
          <p:cNvSpPr txBox="1"/>
          <p:nvPr/>
        </p:nvSpPr>
        <p:spPr>
          <a:xfrm>
            <a:off x="1300000" y="1870000"/>
            <a:ext cx="8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Abrir RUMBANG: </a:t>
            </a:r>
            <a:r>
              <a:rPr sz="1700" b="0">
                <a:solidFill>
                  <a:srgbClr val="1F2937"/>
                </a:solidFill>
              </a:rPr>
              <a:t>El juego arranca sin errores tras la refactorización.</a:t>
            </a:r>
          </a:p>
        </p:txBody>
      </p:sp>
      <p:sp>
        <p:nvSpPr>
          <p:cNvPr id="5" name="Paso 2"/>
          <p:cNvSpPr/>
          <p:nvPr/>
        </p:nvSpPr>
        <p:spPr>
          <a:xfrm>
            <a:off x="600000" y="2570000"/>
            <a:ext cx="520000" cy="520000"/>
          </a:xfrm>
          <a:prstGeom prst="ellipse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o paso 2"/>
          <p:cNvSpPr txBox="1"/>
          <p:nvPr/>
        </p:nvSpPr>
        <p:spPr>
          <a:xfrm>
            <a:off x="1300000" y="2570000"/>
            <a:ext cx="8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Jugar y activar Berserk: </a:t>
            </a:r>
            <a:r>
              <a:rPr sz="1700" b="0">
                <a:solidFill>
                  <a:srgbClr val="1F2937"/>
                </a:solidFill>
              </a:rPr>
              <a:t>El daño sube: cadena de Decorator.</a:t>
            </a:r>
          </a:p>
        </p:txBody>
      </p:sp>
      <p:sp>
        <p:nvSpPr>
          <p:cNvPr id="7" name="Paso 3"/>
          <p:cNvSpPr/>
          <p:nvPr/>
        </p:nvSpPr>
        <p:spPr>
          <a:xfrm>
            <a:off x="600000" y="3270000"/>
            <a:ext cx="520000" cy="520000"/>
          </a:xfrm>
          <a:prstGeom prst="ellipse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o paso 3"/>
          <p:cNvSpPr txBox="1"/>
          <p:nvPr/>
        </p:nvSpPr>
        <p:spPr>
          <a:xfrm>
            <a:off x="1300000" y="3270000"/>
            <a:ext cx="8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Tecla O: invocar al Nigromante: </a:t>
            </a:r>
            <a:r>
              <a:rPr sz="1700" b="0">
                <a:solidFill>
                  <a:srgbClr val="1F2937"/>
                </a:solidFill>
              </a:rPr>
              <a:t>Factory Method crea el jefe.</a:t>
            </a:r>
          </a:p>
        </p:txBody>
      </p:sp>
      <p:sp>
        <p:nvSpPr>
          <p:cNvPr id="9" name="Paso 4"/>
          <p:cNvSpPr/>
          <p:nvPr/>
        </p:nvSpPr>
        <p:spPr>
          <a:xfrm>
            <a:off x="600000" y="3970000"/>
            <a:ext cx="520000" cy="520000"/>
          </a:xfrm>
          <a:prstGeom prst="ellipse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0" name="Texto paso 4"/>
          <p:cNvSpPr txBox="1"/>
          <p:nvPr/>
        </p:nvSpPr>
        <p:spPr>
          <a:xfrm>
            <a:off x="1300000" y="3970000"/>
            <a:ext cx="8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Enjambre de enemigos: </a:t>
            </a:r>
            <a:r>
              <a:rPr sz="1700" b="0">
                <a:solidFill>
                  <a:srgbClr val="1F2937"/>
                </a:solidFill>
              </a:rPr>
              <a:t>Flyweight: 6 tipos compartidos.</a:t>
            </a:r>
          </a:p>
        </p:txBody>
      </p:sp>
      <p:sp>
        <p:nvSpPr>
          <p:cNvPr id="11" name="Paso 5"/>
          <p:cNvSpPr/>
          <p:nvPr/>
        </p:nvSpPr>
        <p:spPr>
          <a:xfrm>
            <a:off x="600000" y="4670000"/>
            <a:ext cx="520000" cy="520000"/>
          </a:xfrm>
          <a:prstGeom prst="ellipse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o paso 5"/>
          <p:cNvSpPr txBox="1"/>
          <p:nvPr/>
        </p:nvSpPr>
        <p:spPr>
          <a:xfrm>
            <a:off x="1300000" y="4670000"/>
            <a:ext cx="8000000" cy="5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</a:rPr>
              <a:t>Teclado, mando o táctil: </a:t>
            </a:r>
            <a:r>
              <a:rPr sz="1700" b="0">
                <a:solidFill>
                  <a:srgbClr val="1F2937"/>
                </a:solidFill>
              </a:rPr>
              <a:t>Adapter: una sola interfaz de movimiento.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Incremento respecto a la entrega anterior</a:t>
            </a:r>
          </a:p>
        </p:txBody>
      </p:sp>
      <p:sp>
        <p:nvSpPr>
          <p:cNvPr id="3" name="Tarjeta patrones documentados"/>
          <p:cNvSpPr/>
          <p:nvPr/>
        </p:nvSpPr>
        <p:spPr>
          <a:xfrm>
            <a:off x="600000" y="1950000"/>
            <a:ext cx="2550000" cy="150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ifra patrones documentados"/>
          <p:cNvSpPr txBox="1"/>
          <p:nvPr/>
        </p:nvSpPr>
        <p:spPr>
          <a:xfrm>
            <a:off x="600000" y="2100000"/>
            <a:ext cx="25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B6FB8"/>
                </a:solidFill>
              </a:rPr>
              <a:t>9</a:t>
            </a:r>
          </a:p>
        </p:txBody>
      </p:sp>
      <p:sp>
        <p:nvSpPr>
          <p:cNvPr id="5" name="Etiqueta patrones documentados"/>
          <p:cNvSpPr txBox="1"/>
          <p:nvPr/>
        </p:nvSpPr>
        <p:spPr>
          <a:xfrm>
            <a:off x="700000" y="2900000"/>
            <a:ext cx="235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0B2F5B"/>
                </a:solidFill>
              </a:rPr>
              <a:t>patrones documentados</a:t>
            </a:r>
          </a:p>
        </p:txBody>
      </p:sp>
      <p:sp>
        <p:nvSpPr>
          <p:cNvPr id="6" name="Tarjeta clases nuevas"/>
          <p:cNvSpPr/>
          <p:nvPr/>
        </p:nvSpPr>
        <p:spPr>
          <a:xfrm>
            <a:off x="3350000" y="1950000"/>
            <a:ext cx="2550000" cy="150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ifra clases nuevas"/>
          <p:cNvSpPr txBox="1"/>
          <p:nvPr/>
        </p:nvSpPr>
        <p:spPr>
          <a:xfrm>
            <a:off x="3350000" y="2100000"/>
            <a:ext cx="25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B6FB8"/>
                </a:solidFill>
              </a:rPr>
              <a:t>17</a:t>
            </a:r>
          </a:p>
        </p:txBody>
      </p:sp>
      <p:sp>
        <p:nvSpPr>
          <p:cNvPr id="8" name="Etiqueta clases nuevas"/>
          <p:cNvSpPr txBox="1"/>
          <p:nvPr/>
        </p:nvSpPr>
        <p:spPr>
          <a:xfrm>
            <a:off x="3450000" y="2900000"/>
            <a:ext cx="235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0B2F5B"/>
                </a:solidFill>
              </a:rPr>
              <a:t>clases nuevas</a:t>
            </a:r>
          </a:p>
        </p:txBody>
      </p:sp>
      <p:sp>
        <p:nvSpPr>
          <p:cNvPr id="9" name="Tarjeta clases eliminadas"/>
          <p:cNvSpPr/>
          <p:nvPr/>
        </p:nvSpPr>
        <p:spPr>
          <a:xfrm>
            <a:off x="6100000" y="1950000"/>
            <a:ext cx="2550000" cy="150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ifra clases eliminadas"/>
          <p:cNvSpPr txBox="1"/>
          <p:nvPr/>
        </p:nvSpPr>
        <p:spPr>
          <a:xfrm>
            <a:off x="6100000" y="2100000"/>
            <a:ext cx="25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B6FB8"/>
                </a:solidFill>
              </a:rPr>
              <a:t>2</a:t>
            </a:r>
          </a:p>
        </p:txBody>
      </p:sp>
      <p:sp>
        <p:nvSpPr>
          <p:cNvPr id="11" name="Etiqueta clases eliminadas"/>
          <p:cNvSpPr txBox="1"/>
          <p:nvPr/>
        </p:nvSpPr>
        <p:spPr>
          <a:xfrm>
            <a:off x="6200000" y="2900000"/>
            <a:ext cx="235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0B2F5B"/>
                </a:solidFill>
              </a:rPr>
              <a:t>clases eliminadas</a:t>
            </a:r>
          </a:p>
        </p:txBody>
      </p:sp>
      <p:sp>
        <p:nvSpPr>
          <p:cNvPr id="12" name="Tarjeta errores de script"/>
          <p:cNvSpPr/>
          <p:nvPr/>
        </p:nvSpPr>
        <p:spPr>
          <a:xfrm>
            <a:off x="8850000" y="1950000"/>
            <a:ext cx="2550000" cy="1500000"/>
          </a:xfrm>
          <a:prstGeom prst="roundRect">
            <a:avLst/>
          </a:prstGeom>
          <a:solidFill>
            <a:srgbClr val="EA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ifra errores de script"/>
          <p:cNvSpPr txBox="1"/>
          <p:nvPr/>
        </p:nvSpPr>
        <p:spPr>
          <a:xfrm>
            <a:off x="8850000" y="2100000"/>
            <a:ext cx="25500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1B6FB8"/>
                </a:solidFill>
              </a:rPr>
              <a:t>0</a:t>
            </a:r>
          </a:p>
        </p:txBody>
      </p:sp>
      <p:sp>
        <p:nvSpPr>
          <p:cNvPr id="14" name="Etiqueta errores de script"/>
          <p:cNvSpPr txBox="1"/>
          <p:nvPr/>
        </p:nvSpPr>
        <p:spPr>
          <a:xfrm>
            <a:off x="8950000" y="2900000"/>
            <a:ext cx="2350000" cy="4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0B2F5B"/>
                </a:solidFill>
              </a:rPr>
              <a:t>errores de script</a:t>
            </a:r>
          </a:p>
        </p:txBody>
      </p:sp>
      <p:sp>
        <p:nvSpPr>
          <p:cNvPr id="15" name="Detalle del incremento"/>
          <p:cNvSpPr txBox="1"/>
          <p:nvPr/>
        </p:nvSpPr>
        <p:spPr>
          <a:xfrm>
            <a:off x="600000" y="3700000"/>
            <a:ext cx="8900000" cy="1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Eliminadas: EnemyFactory y GameManagerSingleton (duplicado sin usos).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937"/>
                </a:solidFill>
              </a:rPr>
              <a:t>El comportamiento del juego no cambia: daño, prototipos y flyweights verificados con una prueba automática.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Corrección adicional: el pool de balas ya no reutiliza proyectiles que siguen en vuelo.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50000" y="380000"/>
            <a:ext cx="6900000" cy="1000000"/>
          </a:xfrm>
        </p:spPr>
        <p:txBody>
          <a:bodyPr anchor="ctr"/>
          <a:lstStyle/>
          <a:p>
            <a:pPr algn="l"/>
            <a:r>
              <a:rPr sz="2800" b="1">
                <a:solidFill>
                  <a:srgbClr val="0B2F5B"/>
                </a:solidFill>
              </a:rPr>
              <a:t>Conclusiones</a:t>
            </a:r>
          </a:p>
        </p:txBody>
      </p:sp>
      <p:sp>
        <p:nvSpPr>
          <p:cNvPr id="3" name="Cabecera Beneficios"/>
          <p:cNvSpPr/>
          <p:nvPr/>
        </p:nvSpPr>
        <p:spPr>
          <a:xfrm>
            <a:off x="600000" y="1950000"/>
            <a:ext cx="5200000" cy="480000"/>
          </a:xfrm>
          <a:prstGeom prst="roundRect">
            <a:avLst/>
          </a:prstGeom>
          <a:solidFill>
            <a:srgbClr val="1B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Beneficios</a:t>
            </a:r>
          </a:p>
        </p:txBody>
      </p:sp>
      <p:sp>
        <p:nvSpPr>
          <p:cNvPr id="4" name="Lista Beneficios"/>
          <p:cNvSpPr txBox="1"/>
          <p:nvPr/>
        </p:nvSpPr>
        <p:spPr>
          <a:xfrm>
            <a:off x="720000" y="2570000"/>
            <a:ext cx="496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Código abierto a extensión: jefes, modificadores de daño, periféricos y tipos de enemigo se agregan sin tocar lo existente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Menos duplicación y datos de balance en un solo lugar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Menor acoplamiento entre clientes y clases concretas</a:t>
            </a:r>
          </a:p>
        </p:txBody>
      </p:sp>
      <p:sp>
        <p:nvSpPr>
          <p:cNvPr id="5" name="Cabecera Costos y mejoras futuras"/>
          <p:cNvSpPr/>
          <p:nvPr/>
        </p:nvSpPr>
        <p:spPr>
          <a:xfrm>
            <a:off x="6100000" y="1950000"/>
            <a:ext cx="5200000" cy="480000"/>
          </a:xfrm>
          <a:prstGeom prst="roundRect">
            <a:avLst/>
          </a:prstGeom>
          <a:solidFill>
            <a:srgbClr val="0B2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Costos y mejoras futuras</a:t>
            </a:r>
          </a:p>
        </p:txBody>
      </p:sp>
      <p:sp>
        <p:nvSpPr>
          <p:cNvPr id="6" name="Lista Costos y mejoras futuras"/>
          <p:cNvSpPr txBox="1"/>
          <p:nvPr/>
        </p:nvSpPr>
        <p:spPr>
          <a:xfrm>
            <a:off x="6220000" y="2570000"/>
            <a:ext cx="4960000" cy="2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Más clases y archivos que mantener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Abstract Factory con productos reales y Builder abstracto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F2937"/>
                </a:solidFill>
              </a:rPr>
              <a:t>Adaptadores también para los botones de acción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illa sistem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sistemas" id="{60589329-476D-46BD-8E67-BE8D1658841E}" vid="{F56BB109-4FA0-4B30-B0E0-F2AB6EE69C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sistemas</Template>
  <Application>Microsoft Office PowerPoint</Application>
  <PresentationFormat>Panorámica</PresentationFormat>
  <Slides>3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Plantilla sistemas</vt:lpstr>
      <vt:lpstr>Presentación de PowerPoint</vt:lpstr>
      <vt:lpstr>  IMPLEMENTACION DE PATRON FACADE EN RUMBANG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LENOVO</dc:creator>
  <cp:revision>6</cp:revision>
  <dcterms:created xsi:type="dcterms:W3CDTF">2020-09-17T16:08:44Z</dcterms:created>
  <dcterms:modified xsi:type="dcterms:W3CDTF">2026-10-26T16:49:51Z</dcterms:modified>
</cp:coreProperties>
</file>